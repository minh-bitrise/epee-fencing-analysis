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</p:sldIdLst>
  <p:sldSz cy="5143500" cx="9144000"/>
  <p:notesSz cx="6858000" cy="9144000"/>
  <p:embeddedFontLst>
    <p:embeddedFont>
      <p:font typeface="Playfair Display"/>
      <p:regular r:id="rId10"/>
      <p:bold r:id="rId11"/>
      <p:italic r:id="rId12"/>
      <p:boldItalic r:id="rId13"/>
    </p:embeddedFont>
    <p:embeddedFont>
      <p:font typeface="Montserrat"/>
      <p:regular r:id="rId14"/>
      <p:bold r:id="rId15"/>
      <p:italic r:id="rId16"/>
      <p:boldItalic r:id="rId17"/>
    </p:embeddedFont>
    <p:embeddedFont>
      <p:font typeface="Oswald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layfairDisplay-bold.fntdata"/><Relationship Id="rId10" Type="http://schemas.openxmlformats.org/officeDocument/2006/relationships/font" Target="fonts/PlayfairDisplay-regular.fntdata"/><Relationship Id="rId13" Type="http://schemas.openxmlformats.org/officeDocument/2006/relationships/font" Target="fonts/PlayfairDisplay-boldItalic.fntdata"/><Relationship Id="rId12" Type="http://schemas.openxmlformats.org/officeDocument/2006/relationships/font" Target="fonts/PlayfairDisplay-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Montserrat-bold.fntdata"/><Relationship Id="rId14" Type="http://schemas.openxmlformats.org/officeDocument/2006/relationships/font" Target="fonts/Montserrat-regular.fntdata"/><Relationship Id="rId17" Type="http://schemas.openxmlformats.org/officeDocument/2006/relationships/font" Target="fonts/Montserrat-boldItalic.fntdata"/><Relationship Id="rId16" Type="http://schemas.openxmlformats.org/officeDocument/2006/relationships/font" Target="fonts/Montserrat-italic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Oswald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Oswald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1d1357d45_2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f1d1357d45_2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1d1357d4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f1d1357d4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1d1357d45_2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f1d1357d45_2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4286250" y="0"/>
            <a:ext cx="72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/>
          <p:nvPr/>
        </p:nvSpPr>
        <p:spPr>
          <a:xfrm>
            <a:off x="4358475" y="0"/>
            <a:ext cx="38532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4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44250" y="3550650"/>
            <a:ext cx="4910100" cy="5778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4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 rot="5400000">
            <a:off x="4550700" y="-498600"/>
            <a:ext cx="42600" cy="845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5"/>
          <p:cNvSpPr txBox="1"/>
          <p:nvPr>
            <p:ph type="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>
            <a:off x="3117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1" name="Google Shape;71;p17"/>
          <p:cNvSpPr txBox="1"/>
          <p:nvPr>
            <p:ph idx="2" type="body"/>
          </p:nvPr>
        </p:nvSpPr>
        <p:spPr>
          <a:xfrm>
            <a:off x="48324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2" name="Google Shape;72;p1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0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2" name="Google Shape;82;p2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1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5" name="Google Shape;85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21"/>
          <p:cNvSpPr txBox="1"/>
          <p:nvPr>
            <p:ph type="title"/>
          </p:nvPr>
        </p:nvSpPr>
        <p:spPr>
          <a:xfrm>
            <a:off x="265500" y="10816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7" name="Google Shape;87;p21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8" name="Google Shape;88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89" name="Google Shape;89;p2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highlight>
                  <a:schemeClr val="dk1"/>
                </a:highlight>
              </a:defRPr>
            </a:lvl1pPr>
          </a:lstStyle>
          <a:p/>
        </p:txBody>
      </p:sp>
      <p:sp>
        <p:nvSpPr>
          <p:cNvPr id="92" name="Google Shape;92;p2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 txBox="1"/>
          <p:nvPr>
            <p:ph hasCustomPrompt="1" type="title"/>
          </p:nvPr>
        </p:nvSpPr>
        <p:spPr>
          <a:xfrm>
            <a:off x="311700" y="999925"/>
            <a:ext cx="8520600" cy="21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95" name="Google Shape;95;p23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96" name="Google Shape;96;p2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op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Char char="●"/>
              <a:defRPr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5"/>
          <p:cNvSpPr txBox="1"/>
          <p:nvPr>
            <p:ph type="ctrTitle"/>
          </p:nvPr>
        </p:nvSpPr>
        <p:spPr>
          <a:xfrm>
            <a:off x="178200" y="172275"/>
            <a:ext cx="8787600" cy="267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920"/>
              <a:t>Preliminary report - Feature Prototype Demo Video</a:t>
            </a:r>
            <a:endParaRPr sz="4920"/>
          </a:p>
        </p:txBody>
      </p:sp>
      <p:sp>
        <p:nvSpPr>
          <p:cNvPr id="104" name="Google Shape;104;p25"/>
          <p:cNvSpPr txBox="1"/>
          <p:nvPr>
            <p:ph idx="1" type="subTitle"/>
          </p:nvPr>
        </p:nvSpPr>
        <p:spPr>
          <a:xfrm>
            <a:off x="178200" y="4405200"/>
            <a:ext cx="4382400" cy="56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/>
              <a:t>Name: Nguyen Anh Minh</a:t>
            </a:r>
            <a:endParaRPr sz="1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/>
          <p:nvPr>
            <p:ph type="ctrTitle"/>
          </p:nvPr>
        </p:nvSpPr>
        <p:spPr>
          <a:xfrm>
            <a:off x="178200" y="172275"/>
            <a:ext cx="8787600" cy="267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920"/>
              <a:t>AI-Assisted Web Application for Epee Fencing Bout Analysis and Fencer Profiling</a:t>
            </a:r>
            <a:endParaRPr sz="4920"/>
          </a:p>
        </p:txBody>
      </p:sp>
      <p:sp>
        <p:nvSpPr>
          <p:cNvPr id="110" name="Google Shape;110;p26"/>
          <p:cNvSpPr txBox="1"/>
          <p:nvPr>
            <p:ph idx="1" type="subTitle"/>
          </p:nvPr>
        </p:nvSpPr>
        <p:spPr>
          <a:xfrm>
            <a:off x="178200" y="3076200"/>
            <a:ext cx="5162100" cy="124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u="sng"/>
              <a:t>Project Template Chosen: </a:t>
            </a:r>
            <a:endParaRPr b="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CM3020 Artificial Intelligence </a:t>
            </a:r>
            <a:r>
              <a:rPr b="0" lang="en"/>
              <a:t>– Project Idea 1: </a:t>
            </a:r>
            <a:r>
              <a:rPr lang="en"/>
              <a:t>Orchestrating AI models to achieve a goal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7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op">
  <a:themeElements>
    <a:clrScheme name="Pop">
      <a:dk1>
        <a:srgbClr val="F8E71C"/>
      </a:dk1>
      <a:lt1>
        <a:srgbClr val="FFFFFF"/>
      </a:lt1>
      <a:dk2>
        <a:srgbClr val="000000"/>
      </a:dk2>
      <a:lt2>
        <a:srgbClr val="D9D9D9"/>
      </a:lt2>
      <a:accent1>
        <a:srgbClr val="666666"/>
      </a:accent1>
      <a:accent2>
        <a:srgbClr val="483165"/>
      </a:accent2>
      <a:accent3>
        <a:srgbClr val="EB1E95"/>
      </a:accent3>
      <a:accent4>
        <a:srgbClr val="01AFD1"/>
      </a:accent4>
      <a:accent5>
        <a:srgbClr val="0F9D58"/>
      </a:accent5>
      <a:accent6>
        <a:srgbClr val="9C27B0"/>
      </a:accent6>
      <a:hlink>
        <a:srgbClr val="0F9D58"/>
      </a:hlink>
      <a:folHlink>
        <a:srgbClr val="0F9D5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